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1ec7a93464f0e" /><Relationship Type="http://schemas.openxmlformats.org/officeDocument/2006/relationships/extended-properties" Target="/docProps/app.xml" Id="Ra78fb005890d4936" /><Relationship Type="http://schemas.openxmlformats.org/officeDocument/2006/relationships/officeDocument" Target="/ppt/presentation.xml" Id="Rb15fd026c969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ae7ae919fd4bcd"/>
  </p:sldMasterIdLst>
  <p:notesMasterIdLst>
    <p:notesMasterId xmlns:r="http://schemas.openxmlformats.org/officeDocument/2006/relationships" r:id="Rd099f9a6828c48f7"/>
  </p:notesMasterIdLst>
  <p:sldIdLst>
    <p:sldId xmlns:r="http://schemas.openxmlformats.org/officeDocument/2006/relationships" id="256" r:id="R5610dc80a61842af"/>
    <p:sldId xmlns:r="http://schemas.openxmlformats.org/officeDocument/2006/relationships" id="257" r:id="R6e7ac439bc8f44f9"/>
    <p:sldId xmlns:r="http://schemas.openxmlformats.org/officeDocument/2006/relationships" id="258" r:id="R7f30779ae38a492c"/>
    <p:sldId xmlns:r="http://schemas.openxmlformats.org/officeDocument/2006/relationships" id="259" r:id="R17a2688a3f4841fc"/>
    <p:sldId xmlns:r="http://schemas.openxmlformats.org/officeDocument/2006/relationships" id="260" r:id="R28f8693e6195451a"/>
    <p:sldId xmlns:r="http://schemas.openxmlformats.org/officeDocument/2006/relationships" id="261" r:id="Rd7612dccf8394e74"/>
    <p:sldId xmlns:r="http://schemas.openxmlformats.org/officeDocument/2006/relationships" id="262" r:id="R319b73f4c27e4027"/>
    <p:sldId xmlns:r="http://schemas.openxmlformats.org/officeDocument/2006/relationships" id="263" r:id="Rfc30ed3339fb4caf"/>
    <p:sldId xmlns:r="http://schemas.openxmlformats.org/officeDocument/2006/relationships" id="264" r:id="Rb6f2960ea66f4b79"/>
    <p:sldId xmlns:r="http://schemas.openxmlformats.org/officeDocument/2006/relationships" id="265" r:id="Ref24040e734d47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91087a2f84fe5" /><Relationship Type="http://schemas.openxmlformats.org/officeDocument/2006/relationships/slideMaster" Target="/ppt/slideMasters/slideMaster1.xml" Id="Rb5ae7ae919fd4bcd" /><Relationship Type="http://schemas.openxmlformats.org/officeDocument/2006/relationships/notesMaster" Target="/ppt/notesMasters/notesMaster1.xml" Id="Rd099f9a6828c48f7" /><Relationship Type="http://schemas.openxmlformats.org/officeDocument/2006/relationships/presProps" Target="/ppt/presProps.xml" Id="R798c3a2c21be4b21" /><Relationship Type="http://schemas.openxmlformats.org/officeDocument/2006/relationships/viewProps" Target="/ppt/viewProps.xml" Id="Re762d4d7e18a43cd" /><Relationship Type="http://schemas.openxmlformats.org/officeDocument/2006/relationships/tableStyles" Target="/ppt/tableStyles.xml" Id="R7d8904678fff4ce4" /><Relationship Type="http://schemas.openxmlformats.org/officeDocument/2006/relationships/slide" Target="/ppt/slides/slide1.xml" Id="R5610dc80a61842af" /><Relationship Type="http://schemas.openxmlformats.org/officeDocument/2006/relationships/slide" Target="/ppt/slides/slide2.xml" Id="R6e7ac439bc8f44f9" /><Relationship Type="http://schemas.openxmlformats.org/officeDocument/2006/relationships/slide" Target="/ppt/slides/slide3.xml" Id="R7f30779ae38a492c" /><Relationship Type="http://schemas.openxmlformats.org/officeDocument/2006/relationships/slide" Target="/ppt/slides/slide4.xml" Id="R17a2688a3f4841fc" /><Relationship Type="http://schemas.openxmlformats.org/officeDocument/2006/relationships/slide" Target="/ppt/slides/slide5.xml" Id="R28f8693e6195451a" /><Relationship Type="http://schemas.openxmlformats.org/officeDocument/2006/relationships/slide" Target="/ppt/slides/slide6.xml" Id="Rd7612dccf8394e74" /><Relationship Type="http://schemas.openxmlformats.org/officeDocument/2006/relationships/slide" Target="/ppt/slides/slide7.xml" Id="R319b73f4c27e4027" /><Relationship Type="http://schemas.openxmlformats.org/officeDocument/2006/relationships/slide" Target="/ppt/slides/slide8.xml" Id="Rfc30ed3339fb4caf" /><Relationship Type="http://schemas.openxmlformats.org/officeDocument/2006/relationships/slide" Target="/ppt/slides/slide9.xml" Id="Rb6f2960ea66f4b79" /><Relationship Type="http://schemas.openxmlformats.org/officeDocument/2006/relationships/slide" Target="/ppt/slides/slide10.xml" Id="Ref24040e734d47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3c6bbf03748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99988af741421a" /><Relationship Type="http://schemas.openxmlformats.org/officeDocument/2006/relationships/notesMaster" Target="/ppt/notesMasters/notesMaster1.xml" Id="Rb66596f7ebb5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894830fa644bf" /><Relationship Type="http://schemas.openxmlformats.org/officeDocument/2006/relationships/notesMaster" Target="/ppt/notesMasters/notesMaster1.xml" Id="Ra2bc8371e497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5fa7f975945c8" /><Relationship Type="http://schemas.openxmlformats.org/officeDocument/2006/relationships/notesMaster" Target="/ppt/notesMasters/notesMaster1.xml" Id="R4e6c73577aee4b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c1a3759c34e58" /><Relationship Type="http://schemas.openxmlformats.org/officeDocument/2006/relationships/notesMaster" Target="/ppt/notesMasters/notesMaster1.xml" Id="Re256ab7bc08e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2ecb63d02947a0" /><Relationship Type="http://schemas.openxmlformats.org/officeDocument/2006/relationships/notesMaster" Target="/ppt/notesMasters/notesMaster1.xml" Id="R9cbd669827fc40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24850d58d04439" /><Relationship Type="http://schemas.openxmlformats.org/officeDocument/2006/relationships/notesMaster" Target="/ppt/notesMasters/notesMaster1.xml" Id="R01ec48fb7dc742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409ac2f1b46bc" /><Relationship Type="http://schemas.openxmlformats.org/officeDocument/2006/relationships/notesMaster" Target="/ppt/notesMasters/notesMaster1.xml" Id="R2d77dc3ced5343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cf5bb60375430f" /><Relationship Type="http://schemas.openxmlformats.org/officeDocument/2006/relationships/notesMaster" Target="/ppt/notesMasters/notesMaster1.xml" Id="R06cb9356697245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71d7f1f1524ee2" /><Relationship Type="http://schemas.openxmlformats.org/officeDocument/2006/relationships/notesMaster" Target="/ppt/notesMasters/notesMaster1.xml" Id="R08065a55414342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6c25ccfa98407e" /><Relationship Type="http://schemas.openxmlformats.org/officeDocument/2006/relationships/notesMaster" Target="/ppt/notesMasters/notesMaster1.xml" Id="R3538148ca095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1: Filippo + Victor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Filippo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Filippo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Filippo -&gt; Victor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Victor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Victor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Victor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Victor -&gt; Filippo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Filippo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Filippo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31fe1b76d4d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49492f1b64b0a" /><Relationship Type="http://schemas.openxmlformats.org/officeDocument/2006/relationships/slideLayout" Target="/ppt/slideLayouts/slideLayout1.xml" Id="Rf797a26e85b34d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7a26e85b34d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b353535a43c7" /><Relationship Type="http://schemas.openxmlformats.org/officeDocument/2006/relationships/notesSlide" Target="/ppt/notesSlides/notesSlide1.xml" Id="R101e6d32bb78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1493bd31e42c1" /><Relationship Type="http://schemas.openxmlformats.org/officeDocument/2006/relationships/notesSlide" Target="/ppt/notesSlides/notesSlide2.xml" Id="Rc4dbc6d32da7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76abada224bbf" /><Relationship Type="http://schemas.openxmlformats.org/officeDocument/2006/relationships/notesSlide" Target="/ppt/notesSlides/notesSlide3.xml" Id="Rb1450dc9aea04c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753cb20264e29" /><Relationship Type="http://schemas.openxmlformats.org/officeDocument/2006/relationships/notesSlide" Target="/ppt/notesSlides/notesSlide4.xml" Id="R90e8febc577746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e2c3609564a91" /><Relationship Type="http://schemas.openxmlformats.org/officeDocument/2006/relationships/notesSlide" Target="/ppt/notesSlides/notesSlide5.xml" Id="Rc761f1349b8e4c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92cec1d8449e" /><Relationship Type="http://schemas.openxmlformats.org/officeDocument/2006/relationships/notesSlide" Target="/ppt/notesSlides/notesSlide6.xml" Id="R6a596ce2854e4b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021f19ddc4711" /><Relationship Type="http://schemas.openxmlformats.org/officeDocument/2006/relationships/notesSlide" Target="/ppt/notesSlides/notesSlide7.xml" Id="Rf766a5baee3245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0110ee054a4a" /><Relationship Type="http://schemas.openxmlformats.org/officeDocument/2006/relationships/notesSlide" Target="/ppt/notesSlides/notesSlide8.xml" Id="R29f75a56ebc8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d506a04904cbf" /><Relationship Type="http://schemas.openxmlformats.org/officeDocument/2006/relationships/notesSlide" Target="/ppt/notesSlides/notesSlide9.xml" Id="Racb7c08bb0714b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0c6c907f6454b" /><Relationship Type="http://schemas.openxmlformats.org/officeDocument/2006/relationships/notesSlide" Target="/ppt/notesSlides/notesSlide10.xml" Id="Rcb2dee86a8df4c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23B88-13FD-4322-BA4D-36C176D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BF3F1-C896-4FC0-852A-594797C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77EDD-AC34-4A5C-94B0-EC5124A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C3083-998E-4464-95E6-017CCB89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2FB64-5B05-4AA3-8319-48552F9C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600FF-EE05-4093-8BF0-03DDB596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CC40B-8AC5-4E87-8CEB-7000E47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15-20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ABA06-81BB-4CE2-8318-6881058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19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2C154-F781-403D-92CF-58B3B573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590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One SDK for all our Martech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98F6D-2D4E-4AFF-B466-8EDF488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609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Unified Amplitude, RevenueCat and AppsFlyer across the portfolio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5F15B-AC4D-49E0-AC34-B5DF070B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257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52B3F"/>
          </a:solidFill>
          <a:ln xmlns:a="http://schemas.openxmlformats.org/drawingml/2006/main" w="9525">
            <a:solidFill>
              <a:srgbClr val="152B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49388-C794-4578-A965-D7B9AD53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382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CE857-1E99-424C-B9A3-D552820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67150"/>
            <a:ext cx="13906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9234A"/>
          </a:solidFill>
          <a:ln xmlns:a="http://schemas.openxmlformats.org/drawingml/2006/main" w="9525">
            <a:solidFill>
              <a:srgbClr val="292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DDE01-30FF-40A5-9641-8CEA8661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3382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A887F-FAC9-4F3A-9EE1-9E07A28A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67150"/>
            <a:ext cx="1219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3A2917"/>
          </a:solidFill>
          <a:ln xmlns:a="http://schemas.openxmlformats.org/drawingml/2006/main" w="9525">
            <a:solidFill>
              <a:srgbClr val="3A29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31ADC-542C-4278-8052-303FBB6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33825"/>
            <a:ext cx="1219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92680-C5B8-41E9-BB4F-1F4240B2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9906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C3027"/>
          </a:solidFill>
          <a:ln xmlns:a="http://schemas.openxmlformats.org/drawingml/2006/main" w="9525">
            <a:solidFill>
              <a:srgbClr val="2C30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32584-B5CA-4325-9B4A-2FE51253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33825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D9A1"/>
                </a:solidFill>
                <a:latin typeface="Aptos"/>
                <a:ea typeface="Aptos"/>
                <a:cs typeface="Aptos"/>
              </a:defRPr>
            </a:pPr>
            <a:r>
              <a:t>+ more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3EB3C-A8CE-49BC-BEC4-F26E322E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Filippo Tosetto · Engineering 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AAC17-FC15-4210-A8A2-4BF882CF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Victor Jalencas · Staff Engineer</a:t>
            </a:r>
          </a:p>
        </p:txBody>
      </p:sp>
    </p:spTree>
    <p:extLst>
      <p:ext uri="{BB962C8B-B14F-4D97-AF65-F5344CB8AC3E}">
        <p14:creationId xmlns:p14="http://schemas.microsoft.com/office/powerpoint/2010/main" val="2045111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5D607-DCC5-4CF5-92C4-C28B1B3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2DEFF-2F12-48D6-A01D-A6A98D1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67D4F-BF5F-48E2-97E6-D3C582C1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24327-0F30-45E4-8B7B-592CA1F5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F408-4E2E-4DFA-9405-F957AE1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4EB22-979C-4817-8EB7-21E001B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9AEBA-A6EE-4967-AF28-21D6CDFE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Filippo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C290-4D85-4412-A510-6C6CD233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Same integration, wired N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48581-26AD-4E1B-8415-53BBE6F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Every app wires the same vendors from scratch. Different code, different versions, different event names.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16D04-BB93-4484-BBDA-2EAF19B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219EC-B344-4431-BE18-431A877A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26DDF-52B3-49F8-85D3-C733DDFA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Photo 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A7CB5-DB1D-48F2-81F8-421BCB30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C37B-AD48-44AA-8D67-B67A719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35394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949BA-E308-491A-8BBC-DD135FC5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E1FF4-5E4C-4254-A9F0-73E9A00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169AF-82E0-4AF4-9669-99AE4EA4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5F1F5-154D-407C-9B0B-8072C2AC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8609D-F0D3-491C-AFBF-05C2B081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1859D-9605-4B9D-9738-6B356749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B95D7-9095-4B0A-B528-AF3D17A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FE461-EAA2-4BFB-809A-81A0961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66475-1364-4990-A25F-F48FA21D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Face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4C5B8-8FB2-493D-ACC8-BA8C303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BD749-6E47-4F94-92E5-395FA82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97319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4C1BF-EE01-4930-A19A-421E5270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DEE94-0CA9-4649-B794-7D8B4E8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AF0FE-4576-4942-AD4D-3FD318C9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66B22-3610-450C-BE12-1E2181B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C02ED-5ABC-4B20-AC4B-B0788863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4E35A-3E48-4366-A0CD-5E4F554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7D113-7131-47C8-9DBB-6BAA801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4675D-7734-47D7-ACC2-6AC5D27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0A691-AC7E-45CA-9198-B1A34A4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Tattooist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6D578-72D3-416C-8262-67A195F9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403576-DEDF-4B4B-B87D-03714A1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59244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0BEF26-9968-4FEA-9ACE-601697E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03E9D7-0C88-40D0-887A-0D68DA2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72E110-E763-43EA-A66E-F22225A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4C646-5177-43BD-ABD3-F9A0DB1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42DD62-EABC-4680-8710-874E84E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6474C3-D156-41D7-8C85-F07AA29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77F099-6F7C-4CD1-8CC5-C4B48A8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C2729-C19C-4BD7-B330-72F6D33E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D8A798-3793-44F7-B071-8AADA64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AI Design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8688C8-1172-4937-A92A-1F557C0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DE32DC-0724-4120-BBBD-0847F9B8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621169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61FC58-BC65-43EE-83C7-3C678411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FFB68F-DB61-46EB-A78B-B1B914A9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1627C9-B37C-43D6-8E12-15533D8E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4C3AF2-9BA5-4710-A1DB-EC446AF8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8B7027-50B6-40BF-B9FE-E6AD212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4D1424-995B-4F61-922F-CDB5439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79684E-1704-4125-B0BC-5AB7CBA9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558F62-7833-433C-8882-ADC5FD50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1DD238-8BB9-4CE2-9DD9-B547B71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iMote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18F384-213B-4EDD-84DF-C72F89FF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AF58E0-8D61-4D1A-8A32-1B93C2DE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83094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B30B00-F820-47EC-A76D-EB479F7E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232E5E-A351-4962-9D4A-742CDA3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026027-6069-4FE5-A633-353E3C3A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6B1CD5-B711-4008-B07B-3532C8D4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72CF61-29AF-4CC3-9663-963FB26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1CA641-4B05-4394-B6AA-45B2CE47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063011-8057-40A8-BD29-B8D8483E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9FC1B5-F271-48E8-B2B6-1E93CA8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F048C0-BE06-4944-82BB-6923AC4E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Mirror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E052B3-7F0F-444C-B964-1EB01172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AC411-AC51-43A1-9E96-7C14C26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19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9450195" y="3184718"/>
            <a:ext cx="9525" cy="33616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98D65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58114A-5917-475F-8FAD-387819CD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935B80-AFFF-4162-84D5-B10A02ED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766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55858E-C1E2-43D8-ABC0-C6AA331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71D05F-F4CD-46B3-BAAF-220FF5F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5290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5CB772-862F-4F93-973A-07BB797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14850"/>
            <a:ext cx="1123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E58A7C-C29C-473C-A0D3-2D8A7A33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291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C69F23-D6D7-4CB6-9696-2253967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29250"/>
            <a:ext cx="6096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161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47311BF-0A05-45CE-AE2D-82A757D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00700"/>
            <a:ext cx="5753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6 apps x 3 vendors = 18 implementations to maintain</a:t>
            </a:r>
          </a:p>
        </p:txBody>
      </p:sp>
    </p:spTree>
    <p:extLst>
      <p:ext uri="{BB962C8B-B14F-4D97-AF65-F5344CB8AC3E}">
        <p14:creationId xmlns:p14="http://schemas.microsoft.com/office/powerpoint/2010/main" val="14956530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FD9E8-D721-4C87-94AC-410FD59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7A8D-267E-4E44-8AC6-6173B996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3832F-E4D3-4326-BC54-D211D1B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A447D-C535-4B6A-9F42-10D9C1E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69465-E740-426C-8F24-AB608FD4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94E2C-C498-41FA-BF7C-7AA56DDB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D0B0B-5FBE-43F7-B526-2F1896C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Filippo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5EF2-EEBD-4318-BD77-D213269A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What that costs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A199F-7267-4771-8101-21D69C59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The duplication is not just wasteful. It breaks data quality and slows every Martech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D4238-1FF0-4F88-867F-BF79BE89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2952750" cy="1943100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F06D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D16EF-203C-46F5-B7DB-123C253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4381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111211"/>
          </a:solidFill>
          <a:ln xmlns:a="http://schemas.openxmlformats.org/drawingml/2006/main" w="9525">
            <a:solidFill>
              <a:srgbClr val="F06D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0E577-D8C5-4915-8665-CF0AD87B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8000"/>
            <a:ext cx="43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6D5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C2E96-1EA0-46A2-AD9D-3B1779F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41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Mis-tracked 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CD8AB-836D-46C9-B9CC-1F14661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234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No reliable cross-app product analysis.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250F8-3BC4-4777-A64E-F58917CF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2952750" cy="1943100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C689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B7A9F-44BC-43A1-9E9A-D708272D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4381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111211"/>
          </a:solidFill>
          <a:ln xmlns:a="http://schemas.openxmlformats.org/drawingml/2006/main" w="9525">
            <a:solidFill>
              <a:srgbClr val="C68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87BB2-5CAB-49C8-95E3-A9D07F30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43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6893E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2CB8A-3EB2-45D3-A240-76F38FA3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57600"/>
            <a:ext cx="241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Martech bottlenecked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538FB-FDC2-43B0-97AE-3849945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38600"/>
            <a:ext cx="234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Every experiment waits on per-app engineering.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BB2B1-9C10-4B8C-8E53-E6162D49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2952750" cy="1943100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9E8DF-CA48-4EFB-87AC-2297B64B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43815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111211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8F627-759C-4045-A06B-04BF348A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43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884AF-6317-4DAF-AB3C-A162FF8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241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Cognitive 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3DC57-FAD1-4884-B711-75A4863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343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Every developer learns every vendor SDK.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B89A5-3DDD-40C0-8D5A-26D4894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1615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82C7B-4448-4FB9-ACD9-8261557B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9115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The biggest cost lands on the data: inconsistent events mean inconsistent decisions</a:t>
            </a:r>
          </a:p>
        </p:txBody>
      </p:sp>
    </p:spTree>
    <p:extLst>
      <p:ext uri="{BB962C8B-B14F-4D97-AF65-F5344CB8AC3E}">
        <p14:creationId xmlns:p14="http://schemas.microsoft.com/office/powerpoint/2010/main" val="9162225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D7903B-ABB0-4BB1-AB4D-B634CB92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51444-7F68-494B-ACDA-D30C507A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92DF1-C4EC-4D49-898F-93C76AFA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21A24-A869-4E27-9062-D9911615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3397-C8AB-4168-A8F6-8B1117DE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E799-CA52-45D2-88AD-2BE80C50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736C9-9C85-407E-AEC4-2523A234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Filippo -&gt; Victor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3742B-A42B-4FE6-9B74-2506E3A0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One library, single point of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0123A-77A2-4F28-948A-3BDA2A3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The shift: apps integrate MartechKit once. Vendor changes ship as a version bump.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349CF-917A-4CD9-B678-C71D5F9E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9D1EE-E658-450D-9036-AA56C32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With MartechKit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B5BF4-E9D0-44FC-A7AC-D5F92559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2A8F5-73AB-4F09-A200-FCC0901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6515B-3818-47F3-AB5E-638064A0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12347-D66A-4C1D-8ED4-CB12716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3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D8EA6-C770-44B1-A78E-B28A37BF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3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954020" y="3044633"/>
            <a:ext cx="2295525" cy="1972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5BD82-3DF9-4848-A05E-A166D16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3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C7CAF-1157-411D-998A-E5B1B505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67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954020" y="3241868"/>
            <a:ext cx="2295525" cy="52666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6406F-736E-4BD4-8F4D-E727439F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3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A8C74-D632-477F-98AA-81248F3A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1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954020" y="3241868"/>
            <a:ext cx="2295525" cy="125056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6AA29-E7C9-40A8-98BA-1E295369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E0CF2F-D443-45BB-AF73-62CDE66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4412E-68A5-450B-8317-D80074D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0C85D-02B9-498C-AE51-3A8B6385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7C6A7-B7D9-4147-A1F2-C8C97B39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3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1954020" y="3044633"/>
            <a:ext cx="2295525" cy="9211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68871-1A59-4CB2-9A9B-110A69C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9F8FD-F0B4-4A0B-B403-47556DCF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67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1954020" y="3768533"/>
            <a:ext cx="2295525" cy="1972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F6194D-28FE-45F1-94D9-BDB4381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B70A2-C9DE-4395-82F0-EC94D710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1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954020" y="3965768"/>
            <a:ext cx="2295525" cy="52666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AC1699-B2D9-4744-9A51-4B8266C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21081-747C-4D19-9129-D0E074CC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15FCC3-F686-4574-8599-36CBE5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E7784E-D93C-481D-88CA-A4A51A72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CFB16A-99D9-4763-A48B-90C22CA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3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954020" y="3044633"/>
            <a:ext cx="2295525" cy="16450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08550-F2AA-46EB-9546-B059941C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848B2-3360-4FB5-81CA-BCCB36E0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67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1954020" y="3768533"/>
            <a:ext cx="2295525" cy="9211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EF8ED0-0888-48C8-9025-21A19503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98C738-E6DF-4836-AC6C-0862D5B6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91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1954020" y="4492433"/>
            <a:ext cx="2295525" cy="197235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E98D65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9E79FC-5CDD-4C75-B660-9C1C44EF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36420D-B402-442E-9CAB-1196AF8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591EC5-CD53-4371-921B-D032B20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ABEC18-4F46-4965-9C44-965836B9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73F72E-85E3-4EBC-865A-70FC42D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C3BFFB-1C30-485A-8E60-5CFB55F0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7200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ADF0DC-8702-478A-9017-CC48CA8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2D44AC-F810-49FC-A0AF-0172F72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B8CA1F-348E-49C2-97D1-F5DBF8A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76DB02-5266-4E62-9881-975A78CD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33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AE08FF-515F-45AA-B97F-64591C6D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459470" y="3241868"/>
            <a:ext cx="1190625" cy="85051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D026C0-61EB-423A-8647-0373355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22B54D-ECA4-40B5-968A-6EC3A7B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ACBDCC-DA94-414D-8C9F-F7D66DC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4FEB60-CAA1-4DE7-B05E-3409DD1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336637-081B-4E2B-B498-9279CE8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7459470" y="3965768"/>
            <a:ext cx="1190625" cy="12661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318DC4-C85D-4C44-B56B-D869A93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7CD165-203C-46FB-9CDD-AA81D1E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6801D4-D6FF-41C1-ABB3-291BFB8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 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2CD373-A634-46FE-968F-513C2442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33AF86-2134-4D5E-B804-6D218668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7459470" y="4092383"/>
            <a:ext cx="1190625" cy="59728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3C91BD-8F8E-4444-A850-94AB252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16002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1C2C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CB7BD58-0F54-446E-9B3D-DC12EA9C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160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BA8386-C30B-413F-A99D-7C6E0C9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7C988A-4F72-43B4-9E24-55E07F8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3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V="1">
            <a:off x="10031220" y="3235133"/>
            <a:ext cx="847725" cy="86398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DB4E97-C671-4BDE-BA15-C449181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CAF883-7F4F-4563-BB32-5911136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10031220" y="4092383"/>
            <a:ext cx="8477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5A1E2A-69C0-4BF6-B06F-BD85E9F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090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A2A98A-BCF1-4286-BCE9-D124EBF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9482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10031220" y="4099118"/>
            <a:ext cx="847725" cy="85051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F8B9"/>
            </a:solidFill>
            <a:prstDash val="solid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EB88A5B-E222-4689-AD1F-2B7CB69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990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F32FD0-7423-4D5D-9E13-27BA83C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2420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12F7362-13F9-481F-AC86-DFE88B8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671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43D31E-4E4A-4A40-8BE1-2297010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814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063991A-388B-45D1-93E6-F3F872C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2440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72EFD6-1738-4EE5-93FA-5251626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3870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ACC979-A33E-4E42-99B9-C145392E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Handoff: Victor, how it actually works.</a:t>
            </a:r>
          </a:p>
        </p:txBody>
      </p:sp>
    </p:spTree>
    <p:extLst>
      <p:ext uri="{BB962C8B-B14F-4D97-AF65-F5344CB8AC3E}">
        <p14:creationId xmlns:p14="http://schemas.microsoft.com/office/powerpoint/2010/main" val="21020644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79D36-7EAC-459F-AEF3-42178537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D05B0-829B-4553-8E56-B187C40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01D9E-DD50-425E-99F0-F668419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5E7CD-32E4-4830-8112-A4AB839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887E5-12B1-48E2-90C1-63285D1D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FF799-6946-4A3D-95B7-DA45BC3F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6ED59-CD2E-4587-A731-7F91D99C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Victor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5CAD1-495A-4411-9B75-5C74AE6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One clean API, vendors hidden inside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CAEAF-F1D3-4976-8911-720E1DDB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19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MartechKit is a facade. App code calls one stable API; vendor specifics stay inside the library.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A45D5-CA28-4C63-B992-71DD9600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77724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311E18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E58A6-085A-4E03-8196-B86BCDF9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7F6F1"/>
                </a:solidFill>
                <a:latin typeface="Aptos Mono"/>
                <a:ea typeface="Aptos Mono"/>
                <a:cs typeface="Aptos Mono"/>
              </a:defRPr>
            </a:pPr>
            <a:r>
              <a:t>App code: track(event)   identify(user)   entitlement()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35FBE-AB50-43CA-B107-6B4B3816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48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D31C2-39DE-407C-AEB9-BFE1C31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38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87870" y="3356168"/>
            <a:ext cx="9525" cy="58381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5F8B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A160C-56B4-4EEA-BE6E-3EFD512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6819900" cy="971550"/>
          </a:xfrm>
          <a:prstGeom xmlns:a="http://schemas.openxmlformats.org/drawingml/2006/main" prst="roundRect">
            <a:avLst>
              <a:gd name="adj" fmla="val 25490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97A01-4675-47EF-9C5B-2F720CD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10050"/>
            <a:ext cx="681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 facade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08458-F05B-42D5-A0D2-78696DE9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91050"/>
            <a:ext cx="681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one API in -&gt; many vendor calls 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20C1E-1811-455C-8B37-BAB50B8F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8184E-BB15-4044-9476-61623187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462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077970" y="4911533"/>
            <a:ext cx="3019425" cy="55918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5F8B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D434B-B8E9-4370-87BD-03BFDDA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C642B-AD5F-4E09-9869-E720E7F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62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4944870" y="4911533"/>
            <a:ext cx="1152525" cy="55918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5F8B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4BDC6-B074-4BF2-92EE-12E8B66C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686BF-CCC5-448A-BA4B-AB0E42BF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62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087870" y="4918268"/>
            <a:ext cx="752475" cy="54571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5F8B9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5214D-0B93-4321-9E41-6DEF60A2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7DA14-100F-4E1C-A7B7-87006213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62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087870" y="4918268"/>
            <a:ext cx="2619375" cy="54571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5F8B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2E46E-2C73-4F0A-B906-744341A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673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8FBE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EBD85B-C7DD-4865-9510-9A82B99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816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BEEA"/>
                </a:solidFill>
                <a:latin typeface="Aptos"/>
                <a:ea typeface="Aptos"/>
                <a:cs typeface="Aptos"/>
              </a:defRPr>
            </a:pPr>
            <a:r>
              <a:t>Amplitude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CA1BF-D683-45DB-BF07-A5DAC66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673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AEA6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3C9EEC-0309-4AF8-A83D-B14EBF7E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816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EA6F4"/>
                </a:solidFill>
                <a:latin typeface="Aptos"/>
                <a:ea typeface="Aptos"/>
                <a:cs typeface="Aptos"/>
              </a:defRPr>
            </a:pPr>
            <a:r>
              <a:t>RevenueCat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A85DBA-75DA-4365-B022-EFA04DF5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13DE91-4D1D-4B75-82D5-20748CD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816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AppsFlyer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79DFD-FB23-4D46-82C9-E3C7A73B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67350"/>
            <a:ext cx="133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1716"/>
          </a:solidFill>
          <a:ln xmlns:a="http://schemas.openxmlformats.org/drawingml/2006/main" w="9525">
            <a:solidFill>
              <a:srgbClr val="B6D9A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64D2E9-34FA-4E47-8C2E-9DAFE78B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133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D9A1"/>
                </a:solidFill>
                <a:latin typeface="Aptos"/>
                <a:ea typeface="Aptos"/>
                <a:cs typeface="Aptos"/>
              </a:defRPr>
            </a:pPr>
            <a:r>
              <a:t>+ more</a:t>
            </a:r>
          </a:p>
        </p:txBody>
      </p:sp>
    </p:spTree>
    <p:extLst>
      <p:ext uri="{BB962C8B-B14F-4D97-AF65-F5344CB8AC3E}">
        <p14:creationId xmlns:p14="http://schemas.microsoft.com/office/powerpoint/2010/main" val="17259879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9B1315-2643-45FB-B0D7-8F0580B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DDCF4-DE75-4926-81EF-301FF3BD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298BF-F1B9-41B8-B675-2BFE18FF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96DD2-92D2-4DC6-84CE-60A8F79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AE590-6D6F-4EBF-A856-21A214D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D7F05-9D1C-490C-BDCA-7F38A95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97D27-91CD-42D3-BF45-0EBF8301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Victor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D1AB2-71A3-433F-971E-61C7FA4D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Same event, same schema, everywhere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9C6B-A9B4-45ED-B3B2-946BC783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The unlock is the shared event dictionary: event names and schemas defined once, enforced by the library.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F1160-8BBE-4F61-8315-00148EB5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5D0A0-DD0B-4138-87FB-086B246D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0957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09ED3-91A2-4FC1-81A8-5241ADC8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20955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B1B17"/>
          </a:solidFill>
          <a:ln xmlns:a="http://schemas.openxmlformats.org/drawingml/2006/main" w="9525">
            <a:solidFill>
              <a:srgbClr val="2B1B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5BE2B-9B2B-4AC6-8BEF-55A5ECC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62325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buy_success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3CFE1-BC66-4E09-AAE7-17FF18D6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20955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B1B17"/>
          </a:solidFill>
          <a:ln xmlns:a="http://schemas.openxmlformats.org/drawingml/2006/main" w="9525">
            <a:solidFill>
              <a:srgbClr val="2B1B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8CB0A-E9F5-46A3-B23C-8E6380F0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19525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purchase_done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8EFDB-C44C-4398-87BE-92959E23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0050"/>
            <a:ext cx="20955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B1B17"/>
          </a:solidFill>
          <a:ln xmlns:a="http://schemas.openxmlformats.org/drawingml/2006/main" w="9525">
            <a:solidFill>
              <a:srgbClr val="2B1B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EECB9-C52A-4B3E-AD74-CC9469F7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98D65"/>
                </a:solidFill>
                <a:latin typeface="Aptos"/>
                <a:ea typeface="Aptos"/>
                <a:cs typeface="Aptos"/>
              </a:defRPr>
            </a:pPr>
            <a:r>
              <a:t>checkout_ok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69CA0-4AE1-4282-BA2F-935D1AE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Three apps, one concept, three names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B1042-F8DC-4A1D-B267-DD4BCBE5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19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3E726-839E-4091-850D-2DF1CCC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19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5402070" y="3920933"/>
            <a:ext cx="13430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F8B9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0998F-1A14-4D6A-BAD4-92813D5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With MartechKit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57BA4-464C-44DF-B7DB-63276242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400050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AE44C-90EB-4D42-8F54-DC45451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SHARED EVENT DICTIONARY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A4501-AF7A-464C-B2EB-FFDAEB2F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2190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11711"/>
          </a:solidFill>
          <a:ln xmlns:a="http://schemas.openxmlformats.org/drawingml/2006/main" w="9525">
            <a:solidFill>
              <a:srgbClr val="1117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9F53F-1579-45F8-A6EC-151D996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29025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purchase_completed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F8EA1-A742-4A36-A499-327C1C78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2190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11711"/>
          </a:solidFill>
          <a:ln xmlns:a="http://schemas.openxmlformats.org/drawingml/2006/main" w="9525">
            <a:solidFill>
              <a:srgbClr val="1117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AC312-070A-4833-8AB0-4132D958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screen_viewed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F6E4EE-2A6D-4DDC-A901-BE710D37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2190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11711"/>
          </a:solidFill>
          <a:ln xmlns:a="http://schemas.openxmlformats.org/drawingml/2006/main" w="9525">
            <a:solidFill>
              <a:srgbClr val="1117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9A73B-2727-4F3D-800F-4454397C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feature_used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DAF49-E4D3-40B8-B861-515077AE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67300"/>
            <a:ext cx="3943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One schema -&gt; analytics that actually compare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9806A-F2D5-4BE5-A1AE-D22DF01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81650"/>
            <a:ext cx="54483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51615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D8B7E-0E0D-4743-AD69-341CA30A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53100"/>
            <a:ext cx="5105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Enforced in code, not remembered from a doc</a:t>
            </a:r>
          </a:p>
        </p:txBody>
      </p:sp>
    </p:spTree>
    <p:extLst>
      <p:ext uri="{BB962C8B-B14F-4D97-AF65-F5344CB8AC3E}">
        <p14:creationId xmlns:p14="http://schemas.microsoft.com/office/powerpoint/2010/main" val="699482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87E9D-A1E8-4AA1-A771-09514240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4B747-C61F-4FDA-B7A9-D46DCC75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C5CF8-55D1-45A0-95D6-5990E08C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B6AD9-3C5C-4FC0-9F97-C78F9A70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79B4F-3AA2-487D-BDFC-D2576BD4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8958D-2719-4662-90A2-3875A291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D32D7-B8A0-468A-9D16-E461D823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Victor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EE3F2-1B00-4170-8A99-D8DA0BD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From portfolio-wide tickets to a version bump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605FB-FE90-4605-8942-50392FB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38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Integrate the library once. After that, Martech changes propagate as dependency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19700-BC52-4C33-B496-2349A55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Integrate once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93894-A962-42E5-9AF0-75276BD2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24052-1E70-44B4-8CE1-03148395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81E95-93B0-4122-961B-3F84DCB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1753F-8544-4BD0-B835-FE1D855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328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B652B-66D6-45A1-8022-C87AB722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28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106420" y="3330383"/>
            <a:ext cx="15335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5F8B9"/>
            </a:solidFill>
            <a:prstDash val="solid"/>
            <a:headEnd type="non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6D954-8DA6-4E73-A2BB-E5F4C0D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30289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C1F51-8CEF-4F27-B365-265FFD8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3028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Add MartechKit + 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0EEAA-BBEF-4196-9102-1BD0744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8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2D7BC-3C96-4FDB-B3ED-CB473741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28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6659370" y="3330383"/>
            <a:ext cx="1285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5F8B9"/>
            </a:solidFill>
            <a:prstDash val="solid"/>
            <a:headEnd type="non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C6217-9928-4E0F-92F0-46568647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71825"/>
            <a:ext cx="10668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1D321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7FA30-E601-4DAA-9AAC-2A789CC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Done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ED58E-682F-48F4-BC99-00C77A8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Then every change is a version bump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5CB47-9C10-4701-A2A4-0865F505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095750" cy="704850"/>
          </a:xfrm>
          <a:prstGeom xmlns:a="http://schemas.openxmlformats.org/drawingml/2006/main" prst="roundRect">
            <a:avLst>
              <a:gd name="adj" fmla="val 27027"/>
            </a:avLst>
          </a:prstGeom>
          <a:solidFill xmlns:a="http://schemas.openxmlformats.org/drawingml/2006/main">
            <a:srgbClr val="312615"/>
          </a:solidFill>
          <a:ln xmlns:a="http://schemas.openxmlformats.org/drawingml/2006/main" w="9525">
            <a:solidFill>
              <a:srgbClr val="C689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7A9B3-0258-425F-9C9D-7A340BE0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BC68"/>
                </a:solidFill>
                <a:latin typeface="Aptos Mono"/>
                <a:ea typeface="Aptos Mono"/>
                <a:cs typeface="Aptos Mono"/>
              </a:defRPr>
            </a:pPr>
            <a:r>
              <a:t>MartechKit v1.1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A68ED-EE3B-46CF-8E47-81AE115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8160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new vendor · SDK update · new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5DAE7-265A-4CC5-A30C-9BC14877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C0634-558C-442C-9CAB-733CCEEF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9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5344920" y="4721033"/>
            <a:ext cx="1209675" cy="37821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595D6-47AE-41F0-B628-9276E47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A7844-26FA-4D29-BAA9-4BD145EF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82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2F461-0F61-4D83-A013-0EAD01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054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6AECD-0022-4633-85EC-FA9D14C5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F08A6E-2CC9-4C87-BA5B-47EF66AE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9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5344920" y="4721033"/>
            <a:ext cx="2543175" cy="37821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1BBEB-1398-4A19-8677-6AB2762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958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268CB7-ED0C-4975-9FE1-C76CAC2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A41EFD-5062-4A99-9148-4085A3E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054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AB6D46-BC4E-4D58-9F7C-648C62C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576347-BDDA-4A63-929A-8C130C5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19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5344920" y="4721033"/>
            <a:ext cx="3876675" cy="37821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5A63FD-28EA-429F-931F-FA631EB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58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947767-92D4-4A4F-93A1-497BFB15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482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0CEC78-2876-42FD-93EA-B4A2F2F6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054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C23D05-7CE5-493E-9AFA-82811E63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63956F-E8A7-4860-9568-3E65F56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4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344920" y="5099243"/>
            <a:ext cx="1209675" cy="32664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FCFEBC-DE78-4691-AE65-75FED796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006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377553-66BF-498C-B6DE-752EEF50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EEA806-E70A-44D7-85A3-4FD5F3B5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02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1F9630-75FD-434E-B7F0-D109F66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CF0155-0A6D-4DB3-87EB-C7955769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24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344920" y="5099243"/>
            <a:ext cx="2543175" cy="32664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C0AB73-7D21-4FC2-AEF5-75BDE3AC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1FDBAC-AA15-4265-B761-B59C906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530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E2ED2A-426E-4287-8DC4-2497C97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102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BA5E49-4904-410A-918C-28179C87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91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F0D13E-E9C4-4CC0-9289-2451051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24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344920" y="5099243"/>
            <a:ext cx="3876675" cy="32664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C6893E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85F17E-4BF8-4C6B-82C0-D904A26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0065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98D65"/>
          </a:solidFill>
          <a:ln xmlns:a="http://schemas.openxmlformats.org/drawingml/2006/main" w="9525">
            <a:solidFill>
              <a:srgbClr val="E98D6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43E744-6039-4F7E-8512-78AB415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530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5344DA-B0F7-485D-A8EB-AE3FF06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1025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v1.1</a:t>
            </a:r>
          </a:p>
        </p:txBody>
      </p:sp>
    </p:spTree>
    <p:extLst>
      <p:ext uri="{BB962C8B-B14F-4D97-AF65-F5344CB8AC3E}">
        <p14:creationId xmlns:p14="http://schemas.microsoft.com/office/powerpoint/2010/main" val="20315743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E5031-3ABD-4BDB-BEC1-C76FDE7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AF8A1-B17A-4C43-8434-3BC3126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26ACC-043B-4B37-AA56-B71F12D2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7603-CFE8-4ACF-99F7-FBF12013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2CAEF-9870-4FC2-A096-3C4093C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6F795-832C-40F4-BCFB-85731F69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61AA-ACF8-43C6-9F55-E1D2C7A2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Victor -&gt; Filippo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FF6F0-E20F-4D08-8E82-2E78BCA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Live on iOS, validated in 3 pilots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5213E-786E-482F-ACAD-C4B27FA0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76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MartechKit is not a proposal. v1.0 is live on native iOS and has been validated in three pilot apps.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4DD3A-5BBC-4B56-8310-22999C49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8991600" cy="914400"/>
          </a:xfrm>
          <a:prstGeom xmlns:a="http://schemas.openxmlformats.org/drawingml/2006/main" prst="roundRect">
            <a:avLst>
              <a:gd name="adj" fmla="val 27083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49D59-B51C-4721-B404-580C9CA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43225"/>
            <a:ext cx="1047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5F8B9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00E9C-7474-43C2-B99E-D5174364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13"/>
                </a:solidFill>
                <a:latin typeface="Aptos"/>
                <a:ea typeface="Aptos"/>
                <a:cs typeface="Aptos"/>
              </a:defRPr>
            </a:pPr>
            <a:r>
              <a:t>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DFA11-6549-49A9-814F-A2BC1267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9560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 v1.0 - native 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89173-A272-49C0-87AC-E83D2627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Validated in 3 pilot apps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DCEE3-A732-423A-9C9E-BA1A0988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190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81E11-9228-4409-B007-B553E771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434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B6D9A1"/>
          </a:solidFill>
          <a:ln xmlns:a="http://schemas.openxmlformats.org/drawingml/2006/main" w="9525">
            <a:solidFill>
              <a:srgbClr val="B6D9A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0762F-88A1-4AAD-B8F3-E3C9AD2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03334-0C17-43D7-84B3-0EFFB9B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ScreenMirroring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C41E0-1375-4B55-A8E9-2EDDDB3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10150"/>
            <a:ext cx="876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1D32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FEE58-F926-448D-9680-AD792CF0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768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695CB-BD14-4110-A5DD-0565B6AB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190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3BE59-2BBB-4402-828B-F328F1F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434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B6D9A1"/>
          </a:solidFill>
          <a:ln xmlns:a="http://schemas.openxmlformats.org/drawingml/2006/main" w="9525">
            <a:solidFill>
              <a:srgbClr val="B6D9A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0B8F9-9DDC-42AD-843D-24B3256C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103E7-1B32-4BA9-8093-7B717FB4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530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FaceAI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4F2B3-6029-4A84-B9B1-453D792F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10150"/>
            <a:ext cx="876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1D32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0022C-8FD9-4C3C-BAC4-12A5E647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768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06BC-306A-4BD9-958C-679E49DB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2190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03F5F-6021-41F6-8038-9A314E3F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5524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B6D9A1"/>
          </a:solidFill>
          <a:ln xmlns:a="http://schemas.openxmlformats.org/drawingml/2006/main" w="9525">
            <a:solidFill>
              <a:srgbClr val="B6D9A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BFB60-B4CC-4C1B-B8FE-DCD10A6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7F6F1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951FF-F0E3-4EB7-9C1D-8E23EAAB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7810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Tattooist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F868A-6FD8-4A62-BB1A-40755E2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10150"/>
            <a:ext cx="8763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1D321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F0D981-C6E1-4E1C-94BA-C5B262B2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768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CCBCC-2BDD-4B50-9B8A-B832797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76900"/>
            <a:ext cx="838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Victor: integration effort, what surfaced early, and how the event dictionary held across real apps.</a:t>
            </a:r>
          </a:p>
        </p:txBody>
      </p:sp>
    </p:spTree>
    <p:extLst>
      <p:ext uri="{BB962C8B-B14F-4D97-AF65-F5344CB8AC3E}">
        <p14:creationId xmlns:p14="http://schemas.microsoft.com/office/powerpoint/2010/main" val="7373654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02B80-04CD-4D44-869D-AD00126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0BF7B-1523-4812-89E9-5553314A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A2E25-00D3-4BA4-B58C-26108C50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98C71-68D6-46C4-BDD5-5CF016D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67E0D-7739-4E6C-8D75-5DDFEA1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7F142-288F-4AEF-B015-7967039B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EECAC-BEE5-4311-BA43-C72CAFF4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Filippo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F00AD-9FED-4752-9E18-DC9A8B6A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00150"/>
            <a:ext cx="781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The road to full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5BA31-DFFD-4734-8D10-CC613887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iOS rollout now; Android and Flutter in parallel. Once those land, the whole portfolio is covered.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68D49-187C-412C-8942-D6FEC52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64770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AB53A-58B9-4AEB-B54A-96507D08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F8B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0AA5D-B658-4463-B612-2BBB74A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323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0403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CC52E-FC51-40E0-9B72-D1D126C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iOS portfolio rollout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DF074-C12F-48FC-98CC-C1C0C2AE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In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F55E7-4AF6-4BD0-939A-AB9FF2FF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146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185F4-F07B-4449-AF36-C5E43A00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38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897620" y="3022793"/>
            <a:ext cx="1114425" cy="101244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D5F8B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DEB63-4CE7-4277-92CB-9D92DCA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64770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BAA55-1A92-4121-B46C-8B4355A5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C6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2DAA6-4AE0-4DEE-89AF-7973FBB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23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0403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87E08-BF64-40F1-B42F-CEAA006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719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Android library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71EB1-3107-4A06-8E1C-929F264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004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End of month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3DC59-DCF0-481A-B173-202A31B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909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21E02-6BBD-4D12-9722-3800154D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38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97620" y="3899093"/>
            <a:ext cx="1114425" cy="13614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F0BC68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991BC-E28D-4C7E-8D07-1A0F029F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64770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F0BC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73D1D-4EBF-44AC-94D0-212A248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101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C6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7F227-5C6D-4A84-AF36-D5A68458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3238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30403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F528CE-D5DA-40E5-A716-6CD8A2F4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Flutter library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21387-74AA-419C-8B5E-EEEDB26E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Follows swiftly after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473ED-5E8A-4CA6-88D3-ED1AEF4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672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545A0-4D8C-47B1-9A31-0D183A62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38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897620" y="4035233"/>
            <a:ext cx="1114425" cy="74016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F0BC6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CCA522-3D1E-4F2D-BB2A-062FA112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196215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D321A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0FC79-A9F8-4D99-9BEF-4F5D83A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1581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Full portfolio coverage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8D1023-A5AE-4C18-9F84-3F42D8F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One shared-components platform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FEBAA2-2B0F-4DA0-9719-1AA1AA6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1428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17181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C727BB-BBA9-4CC9-9626-B978614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81675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Parapet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B3380F-7602-4561-BEA9-DF4CF227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15000"/>
            <a:ext cx="1428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17181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84B2FB-B52B-4575-B9D4-FADE225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81675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AI Gateway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3BCCC-ACE6-4184-A1A4-243113E6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15000"/>
            <a:ext cx="16573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17181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9F397D-8A91-4662-A3A9-3C281A16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81675"/>
            <a:ext cx="1657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TVFoundationSDK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1D3050-0925-41B3-AB3D-A6A4C4B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15000"/>
            <a:ext cx="14287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5F8B9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4B02EA-1EAD-4839-8FE4-F41E8ED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81675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30403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</p:spTree>
    <p:extLst>
      <p:ext uri="{BB962C8B-B14F-4D97-AF65-F5344CB8AC3E}">
        <p14:creationId xmlns:p14="http://schemas.microsoft.com/office/powerpoint/2010/main" val="6711354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D75FF-D6A7-456C-9BAB-4A5C73EF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40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75354-4104-442C-A4B5-D4746CA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1239500" cy="58293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20201F"/>
          </a:solidFill>
          <a:ln xmlns:a="http://schemas.openxmlformats.org/drawingml/2006/main" w="9525">
            <a:solidFill>
              <a:srgbClr val="2E3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56451-D332-43D5-A997-984E48C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76250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2B3726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7261-D9B6-44E2-ACB2-021BB83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5524500" cy="533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C4E3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3FD28-314A-45BA-AFA3-3A231DD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3238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475C38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9BE68-67BB-41FF-B7E7-F597031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MartechKit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3A190-9757-435E-A417-6E91C4B3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Q&amp;A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AB9B3-D11D-4415-9EF8-98104B7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533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6F1"/>
                </a:solidFill>
                <a:latin typeface="Aptos"/>
                <a:ea typeface="Aptos"/>
                <a:cs typeface="Aptos"/>
              </a:defRPr>
            </a:pPr>
            <a: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6593E-9BAF-47A0-A4A8-5A1F2A26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Questions?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CBB35-1596-48B8-87FD-09CE1580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0485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D5F8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5F423-4105-41B9-B3DF-42A6B6E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F8B9"/>
                </a:solidFill>
                <a:latin typeface="Aptos"/>
                <a:ea typeface="Aptos"/>
                <a:cs typeface="Aptos"/>
              </a:defRPr>
            </a:pPr>
            <a:r>
              <a:t>Victor Jalencas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312C9-D98F-491A-8F8A-AD0228C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0025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designed and built MartechKit end-to-end, including the three pilot integrations.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66CFF-DD2D-4E94-827F-7BC40EDA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7048500" cy="742950"/>
          </a:xfrm>
          <a:prstGeom xmlns:a="http://schemas.openxmlformats.org/drawingml/2006/main" prst="roundRect">
            <a:avLst>
              <a:gd name="adj" fmla="val 28205"/>
            </a:avLst>
          </a:prstGeom>
          <a:solidFill xmlns:a="http://schemas.openxmlformats.org/drawingml/2006/main">
            <a:srgbClr val="171817"/>
          </a:solidFill>
          <a:ln xmlns:a="http://schemas.openxmlformats.org/drawingml/2006/main" w="9525">
            <a:solidFill>
              <a:srgbClr val="C689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BC29A-41AF-4F88-B04E-1603E5A1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BC68"/>
                </a:solidFill>
                <a:latin typeface="Aptos"/>
                <a:ea typeface="Aptos"/>
                <a:cs typeface="Aptos"/>
              </a:defRPr>
            </a:pPr>
            <a:r>
              <a:t>David Sanchez &amp;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C36F6-B007-4F5B-B2D7-B1C53A9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48275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CA1"/>
                </a:solidFill>
                <a:latin typeface="Aptos"/>
                <a:ea typeface="Aptos"/>
                <a:cs typeface="Aptos"/>
              </a:defRPr>
            </a:pPr>
            <a:r>
              <a:t>shaped the initiative and the context behind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06D59-25F5-4E37-9497-470CEA27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0"/>
            <a:ext cx="1714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F8B9"/>
                </a:solidFill>
                <a:latin typeface="Aptos Mono"/>
                <a:ea typeface="Aptos Mono"/>
                <a:cs typeface="Aptos Mono"/>
              </a:defRPr>
            </a:pPr>
            <a:r>
              <a:t>MAU</a:t>
            </a:r>
          </a:p>
        </p:txBody>
      </p:sp>
    </p:spTree>
    <p:extLst>
      <p:ext uri="{BB962C8B-B14F-4D97-AF65-F5344CB8AC3E}">
        <p14:creationId xmlns:p14="http://schemas.microsoft.com/office/powerpoint/2010/main" val="142725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2026-06-04T07:51:53.5680000Z</dcterms:created>
  <dcterms:modified xsi:type="dcterms:W3CDTF">2026-06-04T07:51:53.5680000Z</dcterms:modified>
</coreProperties>
</file>